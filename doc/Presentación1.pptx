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FERNANDEZ PASCUAL" userId="0e8328ed-56ff-4d0a-9c6e-ed6996099a11" providerId="ADAL" clId="{BAE54D6A-33DF-496A-A945-ABFC3213285A}"/>
    <pc:docChg chg="undo custSel modSld">
      <pc:chgData name="EDUARDO FERNANDEZ PASCUAL" userId="0e8328ed-56ff-4d0a-9c6e-ed6996099a11" providerId="ADAL" clId="{BAE54D6A-33DF-496A-A945-ABFC3213285A}" dt="2024-02-19T14:54:49.605" v="804" actId="1076"/>
      <pc:docMkLst>
        <pc:docMk/>
      </pc:docMkLst>
      <pc:sldChg chg="modSp mod">
        <pc:chgData name="EDUARDO FERNANDEZ PASCUAL" userId="0e8328ed-56ff-4d0a-9c6e-ed6996099a11" providerId="ADAL" clId="{BAE54D6A-33DF-496A-A945-ABFC3213285A}" dt="2024-02-19T14:54:49.605" v="804" actId="1076"/>
        <pc:sldMkLst>
          <pc:docMk/>
          <pc:sldMk cId="1356560734" sldId="256"/>
        </pc:sldMkLst>
        <pc:spChg chg="mod">
          <ac:chgData name="EDUARDO FERNANDEZ PASCUAL" userId="0e8328ed-56ff-4d0a-9c6e-ed6996099a11" providerId="ADAL" clId="{BAE54D6A-33DF-496A-A945-ABFC3213285A}" dt="2024-02-19T14:54:49.605" v="804" actId="1076"/>
          <ac:spMkLst>
            <pc:docMk/>
            <pc:sldMk cId="1356560734" sldId="256"/>
            <ac:spMk id="4" creationId="{107F69B5-3176-8B37-EE5C-F9926D2838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64FFB-3502-42E3-76CB-4F39A88ED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A5559E-7465-B3AF-825C-C8A689353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8FBD4E-75A7-1DF6-7A86-D9DD27B4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E705C7-D7E1-8DCE-660C-19453ED2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DF4D3-A60D-6148-47A5-0CF70563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46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F60FE-8CC5-F128-68C7-D723DFA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656358-10E4-40D4-1D90-5BBB7402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31CC53-1520-2BED-633F-7BC355E4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DC1855-2EF3-FD03-6B7A-92C19DA2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C79A6-C846-382B-0C80-B7B24498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274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66E80-A094-AAF8-0517-56F6A401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DA060E-5C06-FA61-56D7-A6A201204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74E4A-2B66-68F0-A700-9087BFF2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901E1-5543-66CE-EEA1-24488359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065416-D548-15CC-377A-B11636EF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541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CA03D-CD8D-D86A-7496-16FFDD85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95E043-F9B0-8F51-3F42-E8D492F54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1DDF09-4D86-810F-D7D2-6913549A9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15CC1F-25B6-3437-9EF6-D7571E26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CF0D73-ED50-CBB7-9BD7-04A0607F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C3318-F704-7528-D13A-43C0929A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63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300A5-7365-BA21-04D7-04827523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9970C9-E6C8-04EE-D707-F39227520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C11237-1A5A-4DED-B47B-09ED21809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72FBDD-5FDC-67DE-0ECF-01AD1F791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C811321-4117-E971-0E80-A9C3618A2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472422-68CB-B7B1-5643-ABFE3566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6E70F5-1300-6D48-8477-CE783426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B519C8-3BBD-57E1-8CCF-4D9C2B34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087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23FA8-B670-ABEA-D797-45E57D1C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685AF0-10F9-F192-BEE7-629D0AD3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F1B691-401A-A8B5-A650-698D7A21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8683D8-0B73-C5C1-C2ED-54933106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427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7A781B-CB94-A16E-FBC5-ADCE143A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5E6162-32C6-41DF-5A27-C50231CB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018852-9A93-955D-25A0-F38E9A56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57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14C38-D1C0-7119-1FE3-1C3B66AFB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211008-76D8-32B7-E843-267CA79D8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9A64AB-7A23-F007-6C25-E20008C85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CB1956-0B86-98AA-1C7C-7C2AFF8D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731F4D-6165-7B77-5860-ACC093EE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7EB93-D8CC-13B9-EA84-3329C040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461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93473-59A0-A02F-CADE-AB887CFA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0BCE6E-193E-CD6C-7947-DA4E1F75A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141417-4EB1-B526-2161-861322339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12AD1-0BA7-C878-BA06-DA978DF72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DC1749-5C2B-59DC-F1F5-0559D580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95A308-8F0D-D62F-272D-25217617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93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DB4E3-4327-6870-C092-9242C20B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052941-DA15-8826-E26E-6296F5603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46550C-6FAD-73A5-B655-77B744E3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ED365D-2886-222B-9FC8-9C6D7715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A73146-2F76-C546-9405-2474B013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66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5892D4-850C-C5E1-75CD-28B698A4D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D980D-96F1-20B9-D2CE-C583EE1C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87942-B999-B26E-EB19-923A231E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57B89D-6894-4844-EA08-A4D92003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AEA539-C103-6675-6AE5-DF63CE7E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997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A1B6C0-B654-05FF-4492-96F5ED7F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CFA1B-9623-D87E-FCE6-CFCD02952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8F39DF-0243-4388-9CED-C066A0354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0A5EC-90C9-4E1D-B348-EBD136E48D93}" type="datetimeFigureOut">
              <a:rPr lang="es-ES" smtClean="0"/>
              <a:t>19/02/2024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DC790-1BEA-617D-A54F-21562914F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8582BA-AABE-0F09-FF11-6F540B1B8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E52FC-3553-42A4-9F91-F6FCE09AA1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72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07F69B5-3176-8B37-EE5C-F9926D2838F8}"/>
              </a:ext>
            </a:extLst>
          </p:cNvPr>
          <p:cNvSpPr txBox="1"/>
          <p:nvPr/>
        </p:nvSpPr>
        <p:spPr>
          <a:xfrm>
            <a:off x="604630" y="172372"/>
            <a:ext cx="10982739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Georgia" panose="02040502050405020303" pitchFamily="18" charset="0"/>
              </a:rPr>
              <a:t>Delayed development</a:t>
            </a:r>
            <a:r>
              <a:rPr lang="en-US" sz="1600" dirty="0">
                <a:latin typeface="Georgia" panose="02040502050405020303" pitchFamily="18" charset="0"/>
              </a:rPr>
              <a:t> is not good for fitness.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But it is widespread in plants. Delayed germination and dormancy are often cited examples. Seeds are programmed to NOT germinate in many environments.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100" dirty="0">
                <a:latin typeface="Georgia" panose="02040502050405020303" pitchFamily="18" charset="0"/>
              </a:rPr>
              <a:t>In </a:t>
            </a:r>
            <a:r>
              <a:rPr lang="en-US" sz="1100" u="sng" dirty="0">
                <a:latin typeface="Georgia" panose="02040502050405020303" pitchFamily="18" charset="0"/>
              </a:rPr>
              <a:t>evolutionary ecology</a:t>
            </a:r>
            <a:r>
              <a:rPr lang="en-US" sz="1100" dirty="0">
                <a:latin typeface="Georgia" panose="02040502050405020303" pitchFamily="18" charset="0"/>
              </a:rPr>
              <a:t>, delayed germination is usually explained as a response to </a:t>
            </a:r>
            <a:r>
              <a:rPr lang="en-US" sz="1100" b="1" dirty="0">
                <a:solidFill>
                  <a:srgbClr val="00B050"/>
                </a:solidFill>
                <a:latin typeface="Georgia" panose="02040502050405020303" pitchFamily="18" charset="0"/>
              </a:rPr>
              <a:t>disturbance</a:t>
            </a:r>
            <a:r>
              <a:rPr lang="en-US" sz="1100" dirty="0">
                <a:latin typeface="Georgia" panose="02040502050405020303" pitchFamily="18" charset="0"/>
              </a:rPr>
              <a:t>:</a:t>
            </a:r>
          </a:p>
          <a:p>
            <a:r>
              <a:rPr lang="en-US" sz="1100" dirty="0">
                <a:highlight>
                  <a:srgbClr val="FFFF00"/>
                </a:highlight>
                <a:latin typeface="Georgia" panose="02040502050405020303" pitchFamily="18" charset="0"/>
              </a:rPr>
              <a:t>Research focusing a lot in annuals</a:t>
            </a:r>
          </a:p>
          <a:p>
            <a:r>
              <a:rPr lang="en-US" sz="1100" dirty="0">
                <a:latin typeface="Georgia" panose="02040502050405020303" pitchFamily="18" charset="0"/>
              </a:rPr>
              <a:t>- </a:t>
            </a:r>
            <a:r>
              <a:rPr lang="en-US" sz="110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bet-hedging hypothesis</a:t>
            </a:r>
          </a:p>
          <a:p>
            <a:r>
              <a:rPr lang="en-US" sz="1100" i="1" dirty="0">
                <a:solidFill>
                  <a:srgbClr val="000000"/>
                </a:solidFill>
                <a:latin typeface="Georgia" panose="02040502050405020303" pitchFamily="18" charset="0"/>
              </a:rPr>
              <a:t>- best-bet hypothesis</a:t>
            </a:r>
          </a:p>
          <a:p>
            <a:endParaRPr lang="en-US" sz="1100" i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100" dirty="0">
                <a:latin typeface="Georgia" panose="02040502050405020303" pitchFamily="18" charset="0"/>
              </a:rPr>
              <a:t>In Baskin and Baskin </a:t>
            </a:r>
            <a:r>
              <a:rPr lang="en-US" sz="1100" u="sng" dirty="0">
                <a:latin typeface="Georgia" panose="02040502050405020303" pitchFamily="18" charset="0"/>
              </a:rPr>
              <a:t>seed ecology</a:t>
            </a:r>
            <a:r>
              <a:rPr lang="en-US" sz="1100" dirty="0">
                <a:latin typeface="Georgia" panose="02040502050405020303" pitchFamily="18" charset="0"/>
              </a:rPr>
              <a:t>, delayed germination is usually explained as a response to </a:t>
            </a:r>
            <a:r>
              <a:rPr lang="en-US" sz="1100" b="1" dirty="0">
                <a:solidFill>
                  <a:srgbClr val="00B050"/>
                </a:solidFill>
                <a:latin typeface="Georgia" panose="02040502050405020303" pitchFamily="18" charset="0"/>
              </a:rPr>
              <a:t>stress</a:t>
            </a:r>
            <a:r>
              <a:rPr lang="en-US" sz="1100" dirty="0">
                <a:latin typeface="Georgia" panose="02040502050405020303" pitchFamily="18" charset="0"/>
              </a:rPr>
              <a:t>:</a:t>
            </a:r>
          </a:p>
          <a:p>
            <a:r>
              <a:rPr lang="en-US" sz="1100" dirty="0">
                <a:latin typeface="Georgia" panose="02040502050405020303" pitchFamily="18" charset="0"/>
              </a:rPr>
              <a:t>- </a:t>
            </a:r>
            <a:r>
              <a:rPr lang="en-US" sz="110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avoid winter frost</a:t>
            </a:r>
          </a:p>
          <a:p>
            <a:r>
              <a:rPr lang="en-US" sz="1100" i="1" dirty="0">
                <a:solidFill>
                  <a:srgbClr val="000000"/>
                </a:solidFill>
                <a:latin typeface="Georgia" panose="02040502050405020303" pitchFamily="18" charset="0"/>
              </a:rPr>
              <a:t>- avoid summer drought</a:t>
            </a:r>
          </a:p>
          <a:p>
            <a:endParaRPr lang="en-US" sz="1400" i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r-K theory predicts that high disturbance would select for short-lived </a:t>
            </a:r>
            <a:r>
              <a:rPr lang="en-US" sz="1100" b="1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annual plants</a:t>
            </a:r>
            <a:r>
              <a:rPr lang="en-US" sz="11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producing many </a:t>
            </a:r>
            <a:r>
              <a:rPr lang="en-US" sz="1100" b="1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small</a:t>
            </a:r>
            <a:r>
              <a:rPr lang="en-US" sz="11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and </a:t>
            </a:r>
            <a:r>
              <a:rPr lang="en-US" sz="1100" b="1" dirty="0">
                <a:solidFill>
                  <a:srgbClr val="00B05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well-dispersed</a:t>
            </a:r>
            <a:r>
              <a:rPr lang="en-US" sz="11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seeds 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</a:rPr>
              <a:t>Switch to CSR</a:t>
            </a:r>
          </a:p>
          <a:p>
            <a:r>
              <a:rPr lang="en-US" sz="1100" dirty="0">
                <a:solidFill>
                  <a:srgbClr val="000000"/>
                </a:solidFill>
                <a:latin typeface="Georgia" panose="02040502050405020303" pitchFamily="18" charset="0"/>
              </a:rPr>
              <a:t>- derivation 1: dispersal and dormancy are alternative ways of dealing with habitat fluctuations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- derivation 2: plants adapted to disturbed habitats could either have large and dormant or small and non-dormant seeds </a:t>
            </a:r>
            <a:r>
              <a:rPr lang="en-US" sz="11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</a:rPr>
              <a:t>missing seed number</a:t>
            </a:r>
          </a:p>
          <a:p>
            <a:endParaRPr lang="en-US" sz="16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Alternative views from </a:t>
            </a:r>
            <a:r>
              <a:rPr lang="en-US" sz="1600" u="sng" dirty="0">
                <a:solidFill>
                  <a:srgbClr val="000000"/>
                </a:solidFill>
                <a:latin typeface="Georgia" panose="02040502050405020303" pitchFamily="18" charset="0"/>
              </a:rPr>
              <a:t>weed ecology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: </a:t>
            </a:r>
            <a:r>
              <a:rPr lang="en-US" sz="1600" b="1" dirty="0">
                <a:solidFill>
                  <a:srgbClr val="00B050"/>
                </a:solidFill>
                <a:latin typeface="Georgia" panose="02040502050405020303" pitchFamily="18" charset="0"/>
              </a:rPr>
              <a:t>ruderals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have high germinability; </a:t>
            </a:r>
            <a:r>
              <a:rPr lang="en-US" sz="1600" b="1" dirty="0">
                <a:solidFill>
                  <a:srgbClr val="00B050"/>
                </a:solidFill>
                <a:latin typeface="Georgia" panose="02040502050405020303" pitchFamily="18" charset="0"/>
              </a:rPr>
              <a:t>weeds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have crop-related germination cues.</a:t>
            </a:r>
          </a:p>
          <a:p>
            <a:endParaRPr lang="en-US" sz="16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Ob1 Create four groups using multivariate analysis (clustering): e.g. low stress – low disturbance (Figure multivariate indicators, colored by lifespan; EUNIS habitat)</a:t>
            </a:r>
          </a:p>
          <a:p>
            <a:endParaRPr lang="en-US" sz="16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Ob2 Question 1 is delayed germination related to stress and/or disturbance</a:t>
            </a: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Germination proportion ~ groups (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barplot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Ob3 Question 2 groups have different cues driving delayed germination</a:t>
            </a: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Germination proportion ~ Treatment1 + Treatment2 + Treatment3 + seed mass (</a:t>
            </a:r>
            <a:r>
              <a:rPr lang="en-US" sz="1600" u="sng" dirty="0">
                <a:solidFill>
                  <a:srgbClr val="000000"/>
                </a:solidFill>
                <a:latin typeface="Georgia" panose="02040502050405020303" pitchFamily="18" charset="0"/>
              </a:rPr>
              <a:t>one model per group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) (effect sizes)</a:t>
            </a:r>
          </a:p>
          <a:p>
            <a:endParaRPr lang="en-US" sz="16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Repeat analysis for annuals/perennials; anthropic/non</a:t>
            </a:r>
            <a:endParaRPr lang="en-US" sz="1600" dirty="0">
              <a:latin typeface="Georgia" panose="02040502050405020303" pitchFamily="18" charset="0"/>
            </a:endParaRPr>
          </a:p>
          <a:p>
            <a:endParaRPr lang="en-US" sz="1600" dirty="0">
              <a:latin typeface="Georgia" panose="02040502050405020303" pitchFamily="18" charset="0"/>
            </a:endParaRPr>
          </a:p>
          <a:p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607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5ea74a3-92c5-4c31-978a-925c3c799cd0}" enabled="0" method="" siteId="{05ea74a3-92c5-4c31-978a-925c3c799c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255</Words>
  <Application>Microsoft Office PowerPoint</Application>
  <PresentationFormat>Panorámica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EDUARDO FERNANDEZ PASCUAL</dc:creator>
  <cp:lastModifiedBy>EDUARDO FERNANDEZ PASCUAL</cp:lastModifiedBy>
  <cp:revision>1</cp:revision>
  <dcterms:created xsi:type="dcterms:W3CDTF">2024-02-19T13:46:39Z</dcterms:created>
  <dcterms:modified xsi:type="dcterms:W3CDTF">2024-02-19T14:54:51Z</dcterms:modified>
</cp:coreProperties>
</file>